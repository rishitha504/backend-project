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258" r:id="rId3"/>
    <p:sldId id="377" r:id="rId4"/>
    <p:sldId id="391" r:id="rId5"/>
    <p:sldId id="392" r:id="rId6"/>
    <p:sldId id="393" r:id="rId7"/>
    <p:sldId id="394" r:id="rId8"/>
    <p:sldId id="395" r:id="rId9"/>
    <p:sldId id="396" r:id="rId10"/>
    <p:sldId id="398" r:id="rId11"/>
    <p:sldId id="399" r:id="rId12"/>
    <p:sldId id="400" r:id="rId13"/>
    <p:sldId id="397" r:id="rId14"/>
    <p:sldId id="374"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p:scale>
          <a:sx n="81" d="100"/>
          <a:sy n="81" d="100"/>
        </p:scale>
        <p:origin x="139" y="274"/>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8/15/2026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12</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15-08-2026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15-08-2026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15-08-2026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15-08-2026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15-08-2026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15-08-2026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15-08-2026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15-08-2026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15-08-2026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15-08-2026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15-08-2026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15-08-2026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15-08-2026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15-08-2026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15-08-2026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15-08-2026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15-08-2026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15-08-2026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Distributed Video Anomaly Detection in Large-Scale Surveillance Systems Using HDFS and Cluster-Visualized Federated CNN–LSTM Models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835629120"/>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err="1"/>
                        <a:t>G.S.Hasini</a:t>
                      </a:r>
                      <a:endParaRPr lang="en-US" dirty="0"/>
                    </a:p>
                  </a:txBody>
                  <a:tcPr/>
                </a:tc>
                <a:tc>
                  <a:txBody>
                    <a:bodyPr/>
                    <a:lstStyle/>
                    <a:p>
                      <a:r>
                        <a:rPr lang="en-US" dirty="0"/>
                        <a:t>2520030238</a:t>
                      </a:r>
                    </a:p>
                  </a:txBody>
                  <a:tcPr/>
                </a:tc>
                <a:extLst>
                  <a:ext uri="{0D108BD9-81ED-4DB2-BD59-A6C34878D82A}">
                    <a16:rowId xmlns:a16="http://schemas.microsoft.com/office/drawing/2014/main" val="253518174"/>
                  </a:ext>
                </a:extLst>
              </a:tr>
              <a:tr h="370840">
                <a:tc>
                  <a:txBody>
                    <a:bodyPr/>
                    <a:lstStyle/>
                    <a:p>
                      <a:r>
                        <a:rPr lang="en-US" dirty="0"/>
                        <a:t>Kommalapati Rishitha</a:t>
                      </a:r>
                    </a:p>
                  </a:txBody>
                  <a:tcPr/>
                </a:tc>
                <a:tc>
                  <a:txBody>
                    <a:bodyPr/>
                    <a:lstStyle/>
                    <a:p>
                      <a:r>
                        <a:rPr lang="en-US" dirty="0"/>
                        <a:t>2520030202</a:t>
                      </a:r>
                    </a:p>
                  </a:txBody>
                  <a:tcPr/>
                </a:tc>
                <a:extLst>
                  <a:ext uri="{0D108BD9-81ED-4DB2-BD59-A6C34878D82A}">
                    <a16:rowId xmlns:a16="http://schemas.microsoft.com/office/drawing/2014/main" val="2413438055"/>
                  </a:ext>
                </a:extLst>
              </a:tr>
              <a:tr h="370840">
                <a:tc>
                  <a:txBody>
                    <a:bodyPr/>
                    <a:lstStyle/>
                    <a:p>
                      <a:r>
                        <a:rPr lang="en-US" dirty="0"/>
                        <a:t>Akshaya </a:t>
                      </a:r>
                      <a:r>
                        <a:rPr lang="en-US" dirty="0" err="1"/>
                        <a:t>Yaski</a:t>
                      </a:r>
                      <a:endParaRPr lang="en-US" dirty="0"/>
                    </a:p>
                  </a:txBody>
                  <a:tcPr/>
                </a:tc>
                <a:tc>
                  <a:txBody>
                    <a:bodyPr/>
                    <a:lstStyle/>
                    <a:p>
                      <a:r>
                        <a:rPr lang="en-US" dirty="0"/>
                        <a:t>2520030577</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508216436"/>
              </p:ext>
            </p:extLst>
          </p:nvPr>
        </p:nvGraphicFramePr>
        <p:xfrm>
          <a:off x="838199" y="1416193"/>
          <a:ext cx="10515600" cy="3567649"/>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err="1"/>
                        <a:t>G.S.Hasini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Backend API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Kommalapati Rishitha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Courier &amp; Booking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Yaski</a:t>
                      </a:r>
                      <a:r>
                        <a:rPr lang="en-US" dirty="0"/>
                        <a:t> Akshaya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Database &amp; Tracking Development</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55000" lnSpcReduction="20000"/>
          </a:bodyPr>
          <a:lstStyle/>
          <a:p>
            <a:pPr marL="0" indent="0">
              <a:buNone/>
            </a:pPr>
            <a:r>
              <a:rPr lang="en-US" sz="3200" dirty="0"/>
              <a:t>The Courier &amp; Parcel Mobile App for Sender Self-Service is a mobile-based solution designed to simplify and modernize the process of sending parcels and courier items. Traditional courier services often require customers to visit service centers, wait in queues, complete manual forms, and depend on staff for shipment creation, tracking, and status updates. These limitations can result in delays, inconvenience, data-entry errors, and limited visibility into shipment progress. The proposed application provides a convenient, user-friendly self-service platform that enables senders to manage the complete courier process digitally from their mobile devices. Users can register and securely log in, enter sender and receiver details, select parcel type and delivery preferences, calculate applicable charges, schedule or request pickup, make payments, and receive digital shipment confirmation. The application also provides real-time tracking, delivery status notifications, and shipment history, allowing users to monitor parcels without repeatedly contacting customer support. For courier organizations, the system can reduce manual workload, improve operational efficiency, minimize errors, and provide structured shipment data for backend processing and monitoring. By integrating secure authentication, automated validation, notifications, payment support, and tracking capabilities, the proposed solution creates a faster, transparent, and reliable courier experience. Overall, the project aims to transform conventional courier booking into an accessible digital self-service process, improving customer satisfaction while supporting efficient and scalable courier operations. It can also support address validation, barcode or QR-based shipment identification, and centralized records, enabling better coordination between senders, pickup personnel, and courier operations while maintaining secure and accurate information throughout delivery operations.</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62500" lnSpcReduction="20000"/>
          </a:bodyPr>
          <a:lstStyle/>
          <a:p>
            <a:pPr lvl="0"/>
            <a:r>
              <a:rPr lang="en-US" dirty="0"/>
              <a:t>Courier services are an important part of modern delivery and e-commerce.</a:t>
            </a:r>
          </a:p>
          <a:p>
            <a:pPr lvl="0"/>
            <a:r>
              <a:rPr lang="en-US" dirty="0"/>
              <a:t>Traditional courier booking may involve </a:t>
            </a:r>
            <a:r>
              <a:rPr lang="en-US" b="1" dirty="0"/>
              <a:t>manual forms, queues, and dependence on staff</a:t>
            </a:r>
            <a:r>
              <a:rPr lang="en-US" dirty="0"/>
              <a:t>.</a:t>
            </a:r>
          </a:p>
          <a:p>
            <a:pPr lvl="0"/>
            <a:r>
              <a:rPr lang="en-US" dirty="0"/>
              <a:t>Customers may face difficulties in </a:t>
            </a:r>
            <a:r>
              <a:rPr lang="en-US" b="1" dirty="0"/>
              <a:t>booking parcels, calculating charges, tracking shipments, and receiving updates</a:t>
            </a:r>
            <a:r>
              <a:rPr lang="en-US" dirty="0"/>
              <a:t>.</a:t>
            </a:r>
          </a:p>
          <a:p>
            <a:pPr lvl="0"/>
            <a:r>
              <a:rPr lang="en-US" dirty="0"/>
              <a:t>Our project, </a:t>
            </a:r>
            <a:r>
              <a:rPr lang="en-US" b="1" dirty="0"/>
              <a:t>Courier &amp; Parcel Mobile App for Sender Self-Service</a:t>
            </a:r>
            <a:r>
              <a:rPr lang="en-US" dirty="0"/>
              <a:t>, provides a digital solution for these problems.</a:t>
            </a:r>
          </a:p>
          <a:p>
            <a:pPr lvl="0"/>
            <a:r>
              <a:rPr lang="en-US" dirty="0"/>
              <a:t>The application allows users to </a:t>
            </a:r>
            <a:r>
              <a:rPr lang="en-US" b="1" dirty="0"/>
              <a:t>register, log in, enter sender and receiver details, and book parcels</a:t>
            </a:r>
            <a:r>
              <a:rPr lang="en-US" dirty="0"/>
              <a:t> using their mobile devices.</a:t>
            </a:r>
          </a:p>
          <a:p>
            <a:pPr lvl="0"/>
            <a:r>
              <a:rPr lang="en-US" dirty="0"/>
              <a:t>Users can </a:t>
            </a:r>
            <a:r>
              <a:rPr lang="en-US" b="1" dirty="0"/>
              <a:t>select delivery options, calculate charges, schedule pickups, and make payments</a:t>
            </a:r>
            <a:r>
              <a:rPr lang="en-US" dirty="0"/>
              <a:t> through the application.</a:t>
            </a:r>
          </a:p>
          <a:p>
            <a:pPr lvl="0"/>
            <a:r>
              <a:rPr lang="en-US" dirty="0"/>
              <a:t>The app provides </a:t>
            </a:r>
            <a:r>
              <a:rPr lang="en-US" b="1" dirty="0"/>
              <a:t>shipment tracking, notifications, and shipment history</a:t>
            </a:r>
            <a:r>
              <a:rPr lang="en-US" dirty="0"/>
              <a:t> for better visibility.</a:t>
            </a:r>
          </a:p>
          <a:p>
            <a:pPr lvl="0"/>
            <a:r>
              <a:rPr lang="en-US" dirty="0"/>
              <a:t>It can help reduce </a:t>
            </a:r>
            <a:r>
              <a:rPr lang="en-US" b="1" dirty="0"/>
              <a:t>manual work, data-entry errors, and processing time</a:t>
            </a:r>
            <a:r>
              <a:rPr lang="en-US" dirty="0"/>
              <a:t> for courier organizations.</a:t>
            </a:r>
          </a:p>
          <a:p>
            <a:pPr lvl="0"/>
            <a:r>
              <a:rPr lang="en-US" dirty="0"/>
              <a:t>The system aims to provide a </a:t>
            </a:r>
            <a:r>
              <a:rPr lang="en-US" b="1" dirty="0"/>
              <a:t>faster, convenient, transparent, and user-friendly courier experience</a:t>
            </a:r>
            <a:r>
              <a:rPr lang="en-US" dirty="0"/>
              <a:t>.</a:t>
            </a:r>
          </a:p>
          <a:p>
            <a:pPr lvl="0"/>
            <a:r>
              <a:rPr lang="en-US" dirty="0"/>
              <a:t>Overall, the project modernizes courier booking by providing a </a:t>
            </a:r>
            <a:r>
              <a:rPr lang="en-US" b="1" dirty="0"/>
              <a:t>complete self-service digital platform</a:t>
            </a:r>
            <a:r>
              <a:rPr lang="en-US" dirty="0"/>
              <a:t>.</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a:bodyPr>
          <a:lstStyle/>
          <a:p>
            <a:pPr lvl="0"/>
            <a:r>
              <a:rPr lang="en-US" sz="1800" dirty="0"/>
              <a:t>Customers usually need to </a:t>
            </a:r>
            <a:r>
              <a:rPr lang="en-US" sz="1800" b="1" dirty="0"/>
              <a:t>visit a courier service center</a:t>
            </a:r>
            <a:r>
              <a:rPr lang="en-US" sz="1800" dirty="0"/>
              <a:t> to book a parcel.</a:t>
            </a:r>
          </a:p>
          <a:p>
            <a:pPr lvl="0"/>
            <a:r>
              <a:rPr lang="en-US" sz="1800" dirty="0"/>
              <a:t>Booking often involves </a:t>
            </a:r>
            <a:r>
              <a:rPr lang="en-US" sz="1800" b="1" dirty="0"/>
              <a:t>manual form filling</a:t>
            </a:r>
            <a:r>
              <a:rPr lang="en-US" sz="1800" dirty="0"/>
              <a:t> and providing sender and receiver details.</a:t>
            </a:r>
          </a:p>
          <a:p>
            <a:pPr lvl="0"/>
            <a:r>
              <a:rPr lang="en-US" sz="1800" dirty="0"/>
              <a:t>Customers may have to </a:t>
            </a:r>
            <a:r>
              <a:rPr lang="en-US" sz="1800" b="1" dirty="0"/>
              <a:t>wait in queues</a:t>
            </a:r>
            <a:r>
              <a:rPr lang="en-US" sz="1800" dirty="0"/>
              <a:t> during busy hours.</a:t>
            </a:r>
          </a:p>
          <a:p>
            <a:pPr lvl="0"/>
            <a:r>
              <a:rPr lang="en-US" sz="1800" dirty="0"/>
              <a:t>Parcel details and customer information may require </a:t>
            </a:r>
            <a:r>
              <a:rPr lang="en-US" sz="1800" b="1" dirty="0"/>
              <a:t>manual data entry by staff</a:t>
            </a:r>
            <a:r>
              <a:rPr lang="en-US" sz="1800" dirty="0"/>
              <a:t>.</a:t>
            </a:r>
          </a:p>
          <a:p>
            <a:pPr lvl="0"/>
            <a:r>
              <a:rPr lang="en-US" sz="1800" dirty="0"/>
              <a:t>Charges are generally calculated and explained by the </a:t>
            </a:r>
            <a:r>
              <a:rPr lang="en-US" sz="1800" b="1" dirty="0"/>
              <a:t>courier staff</a:t>
            </a:r>
            <a:r>
              <a:rPr lang="en-US" sz="1800" dirty="0"/>
              <a:t>.</a:t>
            </a:r>
          </a:p>
          <a:p>
            <a:pPr lvl="0"/>
            <a:r>
              <a:rPr lang="en-US" sz="1800" dirty="0"/>
              <a:t>Customers may need to </a:t>
            </a:r>
            <a:r>
              <a:rPr lang="en-US" sz="1800" b="1" dirty="0"/>
              <a:t>contact customer support or check the courier website</a:t>
            </a:r>
            <a:r>
              <a:rPr lang="en-US" sz="1800" dirty="0"/>
              <a:t> for tracking updates.</a:t>
            </a:r>
          </a:p>
          <a:p>
            <a:pPr lvl="0"/>
            <a:r>
              <a:rPr lang="en-US" sz="1800" dirty="0"/>
              <a:t>There may be </a:t>
            </a:r>
            <a:r>
              <a:rPr lang="en-US" sz="1800" b="1" dirty="0"/>
              <a:t>limited real-time notifications</a:t>
            </a:r>
            <a:r>
              <a:rPr lang="en-US" sz="1800" dirty="0"/>
              <a:t> about parcel status.</a:t>
            </a:r>
          </a:p>
          <a:p>
            <a:pPr lvl="0"/>
            <a:r>
              <a:rPr lang="en-US" sz="1800" dirty="0"/>
              <a:t>Maintaining physical records can lead to </a:t>
            </a:r>
            <a:r>
              <a:rPr lang="en-US" sz="1800" b="1" dirty="0"/>
              <a:t>data-entry errors or difficulty in managing information</a:t>
            </a:r>
            <a:r>
              <a:rPr lang="en-US" sz="1800" dirty="0"/>
              <a:t>.</a:t>
            </a:r>
          </a:p>
          <a:p>
            <a:pPr lvl="0"/>
            <a:r>
              <a:rPr lang="en-US" sz="1800" dirty="0"/>
              <a:t>The process can be </a:t>
            </a:r>
            <a:r>
              <a:rPr lang="en-US" sz="1800" b="1" dirty="0"/>
              <a:t>time-consuming and inconvenient</a:t>
            </a:r>
            <a:r>
              <a:rPr lang="en-US" sz="1800" dirty="0"/>
              <a:t> for customers.</a:t>
            </a:r>
          </a:p>
          <a:p>
            <a:pPr lvl="0"/>
            <a:r>
              <a:rPr lang="en-US" sz="1800" dirty="0"/>
              <a:t>Staff have to handle many booking and tracking activities, increasing their </a:t>
            </a:r>
            <a:r>
              <a:rPr lang="en-US" sz="1800" b="1" dirty="0"/>
              <a:t>manual workload</a:t>
            </a:r>
            <a:r>
              <a:rPr lang="en-US" sz="1800" dirty="0"/>
              <a:t>.</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pPr lvl="0"/>
            <a:r>
              <a:rPr lang="en-US" sz="1800" dirty="0"/>
              <a:t>Customers may need to </a:t>
            </a:r>
            <a:r>
              <a:rPr lang="en-US" sz="1800" b="1" dirty="0"/>
              <a:t>visit courier centers</a:t>
            </a:r>
            <a:r>
              <a:rPr lang="en-US" sz="1800" dirty="0"/>
              <a:t> to book parcels. </a:t>
            </a:r>
          </a:p>
          <a:p>
            <a:pPr lvl="0"/>
            <a:r>
              <a:rPr lang="en-US" sz="1800" b="1" dirty="0"/>
              <a:t>Manual form filling</a:t>
            </a:r>
            <a:r>
              <a:rPr lang="en-US" sz="1800" dirty="0"/>
              <a:t> can take more time and may cause errors. </a:t>
            </a:r>
          </a:p>
          <a:p>
            <a:pPr lvl="0"/>
            <a:r>
              <a:rPr lang="en-US" sz="1800" dirty="0"/>
              <a:t>Customers may have to </a:t>
            </a:r>
            <a:r>
              <a:rPr lang="en-US" sz="1800" b="1" dirty="0"/>
              <a:t>wait in queues</a:t>
            </a:r>
            <a:r>
              <a:rPr lang="en-US" sz="1800" dirty="0"/>
              <a:t> during parcel booking. </a:t>
            </a:r>
          </a:p>
          <a:p>
            <a:pPr lvl="0"/>
            <a:r>
              <a:rPr lang="en-US" sz="1800" b="1" dirty="0"/>
              <a:t>Shipment charges and delivery options</a:t>
            </a:r>
            <a:r>
              <a:rPr lang="en-US" sz="1800" dirty="0"/>
              <a:t> may not always be easily accessible. </a:t>
            </a:r>
          </a:p>
          <a:p>
            <a:pPr lvl="0"/>
            <a:r>
              <a:rPr lang="en-US" sz="1800" dirty="0"/>
              <a:t>Tracking a parcel may require </a:t>
            </a:r>
            <a:r>
              <a:rPr lang="en-US" sz="1800" b="1" dirty="0"/>
              <a:t>repeatedly checking a website or contacting support</a:t>
            </a:r>
            <a:r>
              <a:rPr lang="en-US" sz="1800" dirty="0"/>
              <a:t>. </a:t>
            </a:r>
          </a:p>
          <a:p>
            <a:pPr lvl="0"/>
            <a:r>
              <a:rPr lang="en-US" sz="1800" dirty="0"/>
              <a:t>Customers may not receive </a:t>
            </a:r>
            <a:r>
              <a:rPr lang="en-US" sz="1800" b="1" dirty="0"/>
              <a:t>timely notifications</a:t>
            </a:r>
            <a:r>
              <a:rPr lang="en-US" sz="1800" dirty="0"/>
              <a:t> about shipment updates. </a:t>
            </a:r>
          </a:p>
          <a:p>
            <a:pPr lvl="0"/>
            <a:r>
              <a:rPr lang="en-US" sz="1800" dirty="0"/>
              <a:t>Courier staff have to handle many </a:t>
            </a:r>
            <a:r>
              <a:rPr lang="en-US" sz="1800" b="1" dirty="0"/>
              <a:t>manual booking and data-entry tasks</a:t>
            </a:r>
            <a:r>
              <a:rPr lang="en-US" sz="1800" dirty="0"/>
              <a:t>. </a:t>
            </a:r>
          </a:p>
          <a:p>
            <a:pPr lvl="0"/>
            <a:r>
              <a:rPr lang="en-US" sz="1800" dirty="0"/>
              <a:t>Managing large amounts of shipment information can be </a:t>
            </a:r>
            <a:r>
              <a:rPr lang="en-US" sz="1800" b="1" dirty="0"/>
              <a:t>difficult and inefficient</a:t>
            </a:r>
            <a:endParaRPr lang="en-US" sz="1800" dirty="0"/>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lnSpcReduction="10000"/>
          </a:bodyPr>
          <a:lstStyle/>
          <a:p>
            <a:pPr lvl="0"/>
            <a:r>
              <a:rPr lang="en-US" sz="1900" dirty="0"/>
              <a:t>Develop a </a:t>
            </a:r>
            <a:r>
              <a:rPr lang="en-US" sz="1900" b="1" dirty="0"/>
              <a:t>mobile-based self-service courier application</a:t>
            </a:r>
            <a:r>
              <a:rPr lang="en-US" sz="1900" dirty="0"/>
              <a:t>. </a:t>
            </a:r>
          </a:p>
          <a:p>
            <a:pPr lvl="0"/>
            <a:r>
              <a:rPr lang="en-US" sz="1900" dirty="0"/>
              <a:t>Allow users to </a:t>
            </a:r>
            <a:r>
              <a:rPr lang="en-US" sz="1900" b="1" dirty="0"/>
              <a:t>register and securely log in</a:t>
            </a:r>
            <a:r>
              <a:rPr lang="en-US" sz="1900" dirty="0"/>
              <a:t>. </a:t>
            </a:r>
          </a:p>
          <a:p>
            <a:pPr lvl="0"/>
            <a:r>
              <a:rPr lang="en-US" sz="1900" dirty="0"/>
              <a:t>Enable users to enter </a:t>
            </a:r>
            <a:r>
              <a:rPr lang="en-US" sz="1900" b="1" dirty="0"/>
              <a:t>sender and receiver details digitally</a:t>
            </a:r>
            <a:r>
              <a:rPr lang="en-US" sz="1900" dirty="0"/>
              <a:t>. </a:t>
            </a:r>
          </a:p>
          <a:p>
            <a:pPr lvl="0"/>
            <a:r>
              <a:rPr lang="en-US" sz="1900" dirty="0"/>
              <a:t>Provide options to </a:t>
            </a:r>
            <a:r>
              <a:rPr lang="en-US" sz="1900" b="1" dirty="0"/>
              <a:t>select parcel type and delivery preferences</a:t>
            </a:r>
            <a:r>
              <a:rPr lang="en-US" sz="1900" dirty="0"/>
              <a:t>. </a:t>
            </a:r>
          </a:p>
          <a:p>
            <a:pPr lvl="0"/>
            <a:r>
              <a:rPr lang="en-US" sz="1900" dirty="0"/>
              <a:t>Automatically </a:t>
            </a:r>
            <a:r>
              <a:rPr lang="en-US" sz="1900" b="1" dirty="0"/>
              <a:t>calculate applicable delivery charges</a:t>
            </a:r>
            <a:r>
              <a:rPr lang="en-US" sz="1900" dirty="0"/>
              <a:t>. </a:t>
            </a:r>
          </a:p>
          <a:p>
            <a:pPr lvl="0"/>
            <a:r>
              <a:rPr lang="en-US" sz="1900" dirty="0"/>
              <a:t>Allow users to </a:t>
            </a:r>
            <a:r>
              <a:rPr lang="en-US" sz="1900" b="1" dirty="0"/>
              <a:t>request or schedule parcel pickup</a:t>
            </a:r>
            <a:r>
              <a:rPr lang="en-US" sz="1900" dirty="0"/>
              <a:t>. </a:t>
            </a:r>
          </a:p>
          <a:p>
            <a:pPr lvl="0"/>
            <a:r>
              <a:rPr lang="en-US" sz="1900" dirty="0"/>
              <a:t>Provide </a:t>
            </a:r>
            <a:r>
              <a:rPr lang="en-US" sz="1900" b="1" dirty="0"/>
              <a:t>digital payment and shipment confirmation</a:t>
            </a:r>
            <a:r>
              <a:rPr lang="en-US" sz="1900" dirty="0"/>
              <a:t>. </a:t>
            </a:r>
          </a:p>
          <a:p>
            <a:pPr lvl="0"/>
            <a:r>
              <a:rPr lang="en-US" sz="1900" dirty="0"/>
              <a:t>Enable users to </a:t>
            </a:r>
            <a:r>
              <a:rPr lang="en-US" sz="1900" b="1" dirty="0"/>
              <a:t>track parcels and view delivery status</a:t>
            </a:r>
            <a:r>
              <a:rPr lang="en-US" sz="1900" dirty="0"/>
              <a:t>. </a:t>
            </a:r>
          </a:p>
          <a:p>
            <a:pPr lvl="0"/>
            <a:r>
              <a:rPr lang="en-US" sz="1900" dirty="0"/>
              <a:t>Send </a:t>
            </a:r>
            <a:r>
              <a:rPr lang="en-US" sz="1900" b="1" dirty="0"/>
              <a:t>notifications for important shipment updates</a:t>
            </a:r>
            <a:r>
              <a:rPr lang="en-US" sz="1900" dirty="0"/>
              <a:t>. </a:t>
            </a:r>
          </a:p>
          <a:p>
            <a:pPr lvl="0"/>
            <a:r>
              <a:rPr lang="en-US" sz="1900" dirty="0"/>
              <a:t>Maintain </a:t>
            </a:r>
            <a:r>
              <a:rPr lang="en-US" sz="1900" b="1" dirty="0"/>
              <a:t>shipment history and centralized digital records</a:t>
            </a:r>
            <a:r>
              <a:rPr lang="en-US" sz="1900" dirty="0"/>
              <a:t>. </a:t>
            </a:r>
          </a:p>
          <a:p>
            <a:pPr lvl="0"/>
            <a:r>
              <a:rPr lang="en-US" sz="1900" dirty="0"/>
              <a:t>Reduce </a:t>
            </a:r>
            <a:r>
              <a:rPr lang="en-US" sz="1900" b="1" dirty="0"/>
              <a:t>manual work, errors, and processing time</a:t>
            </a:r>
            <a:r>
              <a:rPr lang="en-US" sz="1900" dirty="0"/>
              <a:t> for courier organizations. </a:t>
            </a:r>
          </a:p>
          <a:p>
            <a:pPr lvl="0"/>
            <a:r>
              <a:rPr lang="en-US" sz="1900" dirty="0"/>
              <a:t>Provide a </a:t>
            </a:r>
            <a:r>
              <a:rPr lang="en-US" sz="1900" b="1" dirty="0"/>
              <a:t>faster, convenient, and transparent courier experience</a:t>
            </a:r>
            <a:r>
              <a:rPr lang="en-US" sz="1900" dirty="0"/>
              <a:t>.</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lvl="0"/>
            <a:r>
              <a:rPr lang="en-US" sz="1800" dirty="0"/>
              <a:t>To develop a </a:t>
            </a:r>
            <a:r>
              <a:rPr lang="en-US" sz="1800" b="1" dirty="0"/>
              <a:t>simple and user-friendly mobile application</a:t>
            </a:r>
            <a:r>
              <a:rPr lang="en-US" sz="1800" dirty="0"/>
              <a:t> for courier booking. </a:t>
            </a:r>
          </a:p>
          <a:p>
            <a:pPr lvl="0"/>
            <a:r>
              <a:rPr lang="en-US" sz="1800" dirty="0"/>
              <a:t>To allow users to </a:t>
            </a:r>
            <a:r>
              <a:rPr lang="en-US" sz="1800" b="1" dirty="0"/>
              <a:t>book parcels without visiting a courier center</a:t>
            </a:r>
            <a:r>
              <a:rPr lang="en-US" sz="1800" dirty="0"/>
              <a:t>. </a:t>
            </a:r>
          </a:p>
          <a:p>
            <a:pPr lvl="0"/>
            <a:r>
              <a:rPr lang="en-US" sz="1800" dirty="0"/>
              <a:t>To provide </a:t>
            </a:r>
            <a:r>
              <a:rPr lang="en-US" sz="1800" b="1" dirty="0"/>
              <a:t>digital entry of sender and receiver details</a:t>
            </a:r>
            <a:r>
              <a:rPr lang="en-US" sz="1800" dirty="0"/>
              <a:t>. </a:t>
            </a:r>
          </a:p>
          <a:p>
            <a:pPr lvl="0"/>
            <a:r>
              <a:rPr lang="en-US" sz="1800" dirty="0"/>
              <a:t>To calculate </a:t>
            </a:r>
            <a:r>
              <a:rPr lang="en-US" sz="1800" b="1" dirty="0"/>
              <a:t>courier charges automatically</a:t>
            </a:r>
            <a:r>
              <a:rPr lang="en-US" sz="1800" dirty="0"/>
              <a:t>. </a:t>
            </a:r>
          </a:p>
          <a:p>
            <a:pPr lvl="0"/>
            <a:r>
              <a:rPr lang="en-US" sz="1800" dirty="0"/>
              <a:t>To provide </a:t>
            </a:r>
            <a:r>
              <a:rPr lang="en-US" sz="1800" b="1" dirty="0"/>
              <a:t>parcel pickup and delivery options</a:t>
            </a:r>
            <a:r>
              <a:rPr lang="en-US" sz="1800" dirty="0"/>
              <a:t>. </a:t>
            </a:r>
          </a:p>
          <a:p>
            <a:pPr lvl="0"/>
            <a:r>
              <a:rPr lang="en-US" sz="1800" dirty="0"/>
              <a:t>To enable users to </a:t>
            </a:r>
            <a:r>
              <a:rPr lang="en-US" sz="1800" b="1" dirty="0"/>
              <a:t>track their parcel status</a:t>
            </a:r>
            <a:r>
              <a:rPr lang="en-US" sz="1800" dirty="0"/>
              <a:t>. </a:t>
            </a:r>
          </a:p>
          <a:p>
            <a:pPr lvl="0"/>
            <a:r>
              <a:rPr lang="en-US" sz="1800" dirty="0"/>
              <a:t>To send </a:t>
            </a:r>
            <a:r>
              <a:rPr lang="en-US" sz="1800" b="1" dirty="0"/>
              <a:t>notifications about shipment updates</a:t>
            </a:r>
            <a:r>
              <a:rPr lang="en-US" sz="1800" dirty="0"/>
              <a:t>. </a:t>
            </a:r>
          </a:p>
          <a:p>
            <a:pPr lvl="0"/>
            <a:r>
              <a:rPr lang="en-US" sz="1800" dirty="0"/>
              <a:t>To maintain </a:t>
            </a:r>
            <a:r>
              <a:rPr lang="en-US" sz="1800" b="1" dirty="0"/>
              <a:t>shipment history and records</a:t>
            </a:r>
            <a:r>
              <a:rPr lang="en-US" sz="1800" dirty="0"/>
              <a:t> digitally. </a:t>
            </a:r>
          </a:p>
          <a:p>
            <a:pPr lvl="0"/>
            <a:r>
              <a:rPr lang="en-US" sz="1800" dirty="0"/>
              <a:t>To reduce </a:t>
            </a:r>
            <a:r>
              <a:rPr lang="en-US" sz="1800" b="1" dirty="0"/>
              <a:t>manual work and data-entry errors</a:t>
            </a:r>
            <a:r>
              <a:rPr lang="en-US" sz="1800" dirty="0"/>
              <a:t>. </a:t>
            </a:r>
          </a:p>
          <a:p>
            <a:pPr lvl="0"/>
            <a:r>
              <a:rPr lang="en-US" sz="1800" dirty="0"/>
              <a:t>To make the courier process </a:t>
            </a:r>
            <a:r>
              <a:rPr lang="en-US" sz="1800" b="1" dirty="0"/>
              <a:t>faster, easier, and more convenient</a:t>
            </a:r>
            <a:r>
              <a:rPr lang="en-US" sz="1800" dirty="0"/>
              <a:t> for users. </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a:bodyPr>
          <a:lstStyle/>
          <a:p>
            <a:r>
              <a:rPr lang="en-US" sz="1800" b="1" dirty="0"/>
              <a:t>1. User Registration &amp; Login</a:t>
            </a:r>
          </a:p>
          <a:p>
            <a:pPr lvl="0"/>
            <a:r>
              <a:rPr lang="en-US" sz="1800" dirty="0"/>
              <a:t>User can create an account. </a:t>
            </a:r>
          </a:p>
          <a:p>
            <a:pPr lvl="0"/>
            <a:r>
              <a:rPr lang="en-US" sz="1800" dirty="0"/>
              <a:t>Secure login using username/email and password. </a:t>
            </a:r>
          </a:p>
          <a:p>
            <a:pPr lvl="0"/>
            <a:r>
              <a:rPr lang="en-US" sz="1800" dirty="0"/>
              <a:t>Manage basic profile details. </a:t>
            </a:r>
          </a:p>
          <a:p>
            <a:r>
              <a:rPr lang="en-US" sz="1800" b="1" dirty="0"/>
              <a:t>2. Parcel Booking Module</a:t>
            </a:r>
          </a:p>
          <a:p>
            <a:pPr lvl="0"/>
            <a:r>
              <a:rPr lang="en-US" sz="1800" dirty="0"/>
              <a:t>Enter sender and receiver details. </a:t>
            </a:r>
          </a:p>
          <a:p>
            <a:pPr lvl="0"/>
            <a:r>
              <a:rPr lang="en-US" sz="1800" dirty="0"/>
              <a:t>Enter parcel details such as type, weight, and quantity. </a:t>
            </a:r>
          </a:p>
          <a:p>
            <a:pPr lvl="0"/>
            <a:r>
              <a:rPr lang="en-US" sz="1800" dirty="0"/>
              <a:t>Select delivery type. </a:t>
            </a:r>
          </a:p>
          <a:p>
            <a:r>
              <a:rPr lang="en-US" sz="1800" b="1" dirty="0"/>
              <a:t>3. Charge Calculation Module</a:t>
            </a:r>
          </a:p>
          <a:p>
            <a:pPr lvl="0"/>
            <a:r>
              <a:rPr lang="en-US" sz="1800" dirty="0"/>
              <a:t>Calculate courier charges based on </a:t>
            </a:r>
            <a:r>
              <a:rPr lang="en-US" sz="1800" b="1" dirty="0"/>
              <a:t>weight, distance, and delivery type</a:t>
            </a:r>
            <a:r>
              <a:rPr lang="en-US" sz="1800" dirty="0"/>
              <a:t>. </a:t>
            </a:r>
          </a:p>
          <a:p>
            <a:pPr lvl="0"/>
            <a:r>
              <a:rPr lang="en-US" sz="1800" dirty="0"/>
              <a:t>Display the total amount before confirmation.</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948ED4-EAA0-A437-55F6-8184C4C52B44}"/>
              </a:ext>
            </a:extLst>
          </p:cNvPr>
          <p:cNvSpPr>
            <a:spLocks noGrp="1"/>
          </p:cNvSpPr>
          <p:nvPr>
            <p:ph idx="1"/>
          </p:nvPr>
        </p:nvSpPr>
        <p:spPr>
          <a:xfrm>
            <a:off x="838200" y="933254"/>
            <a:ext cx="10515600" cy="5243709"/>
          </a:xfrm>
        </p:spPr>
        <p:txBody>
          <a:bodyPr>
            <a:normAutofit/>
          </a:bodyPr>
          <a:lstStyle/>
          <a:p>
            <a:r>
              <a:rPr lang="en-US" sz="1800" b="1" dirty="0"/>
              <a:t>4. Pickup &amp; Delivery Module</a:t>
            </a:r>
          </a:p>
          <a:p>
            <a:pPr lvl="0"/>
            <a:r>
              <a:rPr lang="en-US" sz="1800" dirty="0"/>
              <a:t>User can provide pickup and delivery addresses. </a:t>
            </a:r>
          </a:p>
          <a:p>
            <a:pPr lvl="0"/>
            <a:r>
              <a:rPr lang="en-US" sz="1800" dirty="0"/>
              <a:t>User can request or schedule a pickup. </a:t>
            </a:r>
          </a:p>
          <a:p>
            <a:pPr lvl="0"/>
            <a:r>
              <a:rPr lang="en-US" sz="1800" dirty="0"/>
              <a:t>Store pickup and delivery information. </a:t>
            </a:r>
          </a:p>
          <a:p>
            <a:r>
              <a:rPr lang="en-US" sz="1800" b="1" dirty="0"/>
              <a:t>5. Payment Module</a:t>
            </a:r>
          </a:p>
          <a:p>
            <a:pPr lvl="0"/>
            <a:r>
              <a:rPr lang="en-US" sz="1800" dirty="0"/>
              <a:t>Display the total booking amount. </a:t>
            </a:r>
          </a:p>
          <a:p>
            <a:pPr lvl="0"/>
            <a:r>
              <a:rPr lang="en-US" sz="1800" dirty="0"/>
              <a:t>Provide a simple payment option. </a:t>
            </a:r>
          </a:p>
          <a:p>
            <a:pPr lvl="0"/>
            <a:r>
              <a:rPr lang="en-US" sz="1800" dirty="0"/>
              <a:t>Generate payment/booking confirmation. </a:t>
            </a:r>
          </a:p>
          <a:p>
            <a:r>
              <a:rPr lang="en-US" sz="1800" b="1" dirty="0"/>
              <a:t>6. Parcel Tracking Module</a:t>
            </a:r>
          </a:p>
          <a:p>
            <a:pPr lvl="0"/>
            <a:r>
              <a:rPr lang="en-US" sz="1800" dirty="0"/>
              <a:t>Generate a </a:t>
            </a:r>
            <a:r>
              <a:rPr lang="en-US" sz="1800" b="1" dirty="0"/>
              <a:t>unique tracking ID</a:t>
            </a:r>
            <a:r>
              <a:rPr lang="en-US" sz="1800" dirty="0"/>
              <a:t> for each parcel. </a:t>
            </a:r>
          </a:p>
          <a:p>
            <a:pPr lvl="0"/>
            <a:r>
              <a:rPr lang="en-US" sz="1800" dirty="0"/>
              <a:t>Allow users to check parcel status. </a:t>
            </a:r>
          </a:p>
          <a:p>
            <a:pPr lvl="0"/>
            <a:r>
              <a:rPr lang="en-US" sz="1800" dirty="0"/>
              <a:t>Show statuses such as </a:t>
            </a:r>
            <a:r>
              <a:rPr lang="en-US" sz="1800" b="1" dirty="0"/>
              <a:t>Booked → Picked Up → In Transit → Out for Delivery → Delivered</a:t>
            </a:r>
            <a:r>
              <a:rPr lang="en-US" sz="1800" dirty="0"/>
              <a:t>.</a:t>
            </a:r>
          </a:p>
          <a:p>
            <a:endParaRPr lang="en-US" dirty="0"/>
          </a:p>
        </p:txBody>
      </p:sp>
      <p:sp>
        <p:nvSpPr>
          <p:cNvPr id="4" name="Date Placeholder 3">
            <a:extLst>
              <a:ext uri="{FF2B5EF4-FFF2-40B4-BE49-F238E27FC236}">
                <a16:creationId xmlns:a16="http://schemas.microsoft.com/office/drawing/2014/main" id="{48ED97D2-DCA6-E1DE-8615-7E5BDE5F15F7}"/>
              </a:ext>
            </a:extLst>
          </p:cNvPr>
          <p:cNvSpPr>
            <a:spLocks noGrp="1"/>
          </p:cNvSpPr>
          <p:nvPr>
            <p:ph type="dt" sz="half" idx="10"/>
          </p:nvPr>
        </p:nvSpPr>
        <p:spPr/>
        <p:txBody>
          <a:bodyPr/>
          <a:lstStyle/>
          <a:p>
            <a:fld id="{3C447009-55DF-4EA5-900B-29AFB7C8438A}" type="datetime1">
              <a:rPr lang="en-IN" smtClean="0"/>
              <a:t>15-08-2026</a:t>
            </a:fld>
            <a:endParaRPr lang="en-US"/>
          </a:p>
        </p:txBody>
      </p:sp>
      <p:sp>
        <p:nvSpPr>
          <p:cNvPr id="5" name="Footer Placeholder 4">
            <a:extLst>
              <a:ext uri="{FF2B5EF4-FFF2-40B4-BE49-F238E27FC236}">
                <a16:creationId xmlns:a16="http://schemas.microsoft.com/office/drawing/2014/main" id="{5EE758E7-41FF-A5D2-5B74-F62F17E1AEB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87BA2A9-78B4-0A6E-E0A3-A73F34EBB38D}"/>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018814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0359E5-A308-A964-5C47-843F48C02334}"/>
              </a:ext>
            </a:extLst>
          </p:cNvPr>
          <p:cNvSpPr>
            <a:spLocks noGrp="1"/>
          </p:cNvSpPr>
          <p:nvPr>
            <p:ph idx="1"/>
          </p:nvPr>
        </p:nvSpPr>
        <p:spPr>
          <a:xfrm>
            <a:off x="838200" y="980388"/>
            <a:ext cx="10515600" cy="5196575"/>
          </a:xfrm>
        </p:spPr>
        <p:txBody>
          <a:bodyPr>
            <a:normAutofit/>
          </a:bodyPr>
          <a:lstStyle/>
          <a:p>
            <a:r>
              <a:rPr lang="en-US" sz="1800" b="1" dirty="0"/>
              <a:t>7. Notification Module</a:t>
            </a:r>
          </a:p>
          <a:p>
            <a:pPr lvl="0"/>
            <a:r>
              <a:rPr lang="en-US" sz="1800" dirty="0"/>
              <a:t>Notify users when the parcel status changes. </a:t>
            </a:r>
          </a:p>
          <a:p>
            <a:pPr lvl="0"/>
            <a:r>
              <a:rPr lang="en-US" sz="1800" dirty="0"/>
              <a:t>Send booking and delivery confirmations. </a:t>
            </a:r>
          </a:p>
          <a:p>
            <a:r>
              <a:rPr lang="en-US" sz="1800" b="1" dirty="0"/>
              <a:t>8. Shipment History Module</a:t>
            </a:r>
          </a:p>
          <a:p>
            <a:pPr lvl="0"/>
            <a:r>
              <a:rPr lang="en-US" sz="1800" dirty="0"/>
              <a:t>Display previous and current shipments. </a:t>
            </a:r>
          </a:p>
          <a:p>
            <a:pPr lvl="0"/>
            <a:r>
              <a:rPr lang="en-US" sz="1800" dirty="0"/>
              <a:t>Show tracking ID, date, status, and charges. </a:t>
            </a:r>
          </a:p>
          <a:p>
            <a:pPr lvl="0"/>
            <a:r>
              <a:rPr lang="en-US" sz="1800" dirty="0"/>
              <a:t>Allow users to view their booking details. </a:t>
            </a:r>
          </a:p>
          <a:p>
            <a:r>
              <a:rPr lang="en-US" sz="1800" b="1" dirty="0"/>
              <a:t>9. Admin Module</a:t>
            </a:r>
          </a:p>
          <a:p>
            <a:pPr lvl="0"/>
            <a:r>
              <a:rPr lang="en-US" sz="1800" dirty="0"/>
              <a:t>Admin can view registered users and shipments. </a:t>
            </a:r>
          </a:p>
          <a:p>
            <a:pPr lvl="0"/>
            <a:r>
              <a:rPr lang="en-US" sz="1800" dirty="0"/>
              <a:t>Update parcel status. </a:t>
            </a:r>
          </a:p>
          <a:p>
            <a:pPr lvl="0"/>
            <a:r>
              <a:rPr lang="en-US" sz="1800" dirty="0"/>
              <a:t>Manage booking and delivery information.</a:t>
            </a:r>
          </a:p>
          <a:p>
            <a:endParaRPr lang="en-US" dirty="0"/>
          </a:p>
        </p:txBody>
      </p:sp>
      <p:sp>
        <p:nvSpPr>
          <p:cNvPr id="4" name="Date Placeholder 3">
            <a:extLst>
              <a:ext uri="{FF2B5EF4-FFF2-40B4-BE49-F238E27FC236}">
                <a16:creationId xmlns:a16="http://schemas.microsoft.com/office/drawing/2014/main" id="{5B8C9342-044B-AD26-5B28-C576F98024DB}"/>
              </a:ext>
            </a:extLst>
          </p:cNvPr>
          <p:cNvSpPr>
            <a:spLocks noGrp="1"/>
          </p:cNvSpPr>
          <p:nvPr>
            <p:ph type="dt" sz="half" idx="10"/>
          </p:nvPr>
        </p:nvSpPr>
        <p:spPr/>
        <p:txBody>
          <a:bodyPr/>
          <a:lstStyle/>
          <a:p>
            <a:fld id="{3C447009-55DF-4EA5-900B-29AFB7C8438A}" type="datetime1">
              <a:rPr lang="en-IN" smtClean="0"/>
              <a:t>15-08-2026</a:t>
            </a:fld>
            <a:endParaRPr lang="en-US"/>
          </a:p>
        </p:txBody>
      </p:sp>
      <p:sp>
        <p:nvSpPr>
          <p:cNvPr id="5" name="Footer Placeholder 4">
            <a:extLst>
              <a:ext uri="{FF2B5EF4-FFF2-40B4-BE49-F238E27FC236}">
                <a16:creationId xmlns:a16="http://schemas.microsoft.com/office/drawing/2014/main" id="{39CCD343-86EB-6B82-E4A8-B422652DD256}"/>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12BB9B3C-8CC8-BEBF-E904-D890154387B5}"/>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04316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pPr lvl="0"/>
            <a:r>
              <a:rPr lang="en-US" sz="1800" b="1" dirty="0"/>
              <a:t>Node.js</a:t>
            </a:r>
            <a:r>
              <a:rPr lang="en-US" sz="1800" dirty="0"/>
              <a:t> – To run the backend server. </a:t>
            </a:r>
          </a:p>
          <a:p>
            <a:pPr lvl="0"/>
            <a:r>
              <a:rPr lang="en-US" sz="1800" b="1" dirty="0"/>
              <a:t>Express.js</a:t>
            </a:r>
            <a:r>
              <a:rPr lang="en-US" sz="1800" dirty="0"/>
              <a:t> – To create APIs and handle requests. </a:t>
            </a:r>
          </a:p>
          <a:p>
            <a:pPr lvl="0"/>
            <a:r>
              <a:rPr lang="en-US" sz="1800" b="1" dirty="0"/>
              <a:t>MySQL</a:t>
            </a:r>
            <a:r>
              <a:rPr lang="en-US" sz="1800" dirty="0"/>
              <a:t> – To store user, parcel, booking, payment, and tracking data. </a:t>
            </a:r>
          </a:p>
          <a:p>
            <a:pPr lvl="0"/>
            <a:r>
              <a:rPr lang="en-US" sz="1800" b="1" dirty="0"/>
              <a:t>Visual Studio Code</a:t>
            </a:r>
            <a:r>
              <a:rPr lang="en-US" sz="1800" dirty="0"/>
              <a:t> – To write and manage backend code. </a:t>
            </a:r>
          </a:p>
          <a:p>
            <a:pPr lvl="0"/>
            <a:r>
              <a:rPr lang="en-US" sz="1800" b="1" dirty="0"/>
              <a:t>Postman</a:t>
            </a:r>
            <a:r>
              <a:rPr lang="en-US" sz="1800" dirty="0"/>
              <a:t> – To test the backend APIs</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13</a:t>
            </a:fld>
            <a:endParaRPr lang="en-US" dirty="0"/>
          </a:p>
        </p:txBody>
      </p:sp>
      <p:sp>
        <p:nvSpPr>
          <p:cNvPr id="3" name="TextBox 2">
            <a:extLst>
              <a:ext uri="{FF2B5EF4-FFF2-40B4-BE49-F238E27FC236}">
                <a16:creationId xmlns:a16="http://schemas.microsoft.com/office/drawing/2014/main" id="{080C74C2-FCBF-0C63-AFD6-C045AE2F9972}"/>
              </a:ext>
            </a:extLst>
          </p:cNvPr>
          <p:cNvSpPr txBox="1"/>
          <p:nvPr/>
        </p:nvSpPr>
        <p:spPr>
          <a:xfrm>
            <a:off x="876693" y="1564849"/>
            <a:ext cx="10312923"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Conclusion</a:t>
            </a:r>
          </a:p>
          <a:p>
            <a:pPr marL="285750" lvl="0" indent="-285750">
              <a:buFont typeface="Arial" panose="020B0604020202020204" pitchFamily="34" charset="0"/>
              <a:buChar char="•"/>
            </a:pPr>
            <a:r>
              <a:rPr lang="en-US" dirty="0"/>
              <a:t>The app makes </a:t>
            </a:r>
            <a:r>
              <a:rPr lang="en-US" b="1" dirty="0"/>
              <a:t>courier booking and parcel tracking easier and faster</a:t>
            </a:r>
            <a:r>
              <a:rPr lang="en-US" dirty="0"/>
              <a:t> for users.</a:t>
            </a:r>
          </a:p>
          <a:p>
            <a:pPr marL="285750" lvl="0" indent="-285750">
              <a:buFont typeface="Arial" panose="020B0604020202020204" pitchFamily="34" charset="0"/>
              <a:buChar char="•"/>
            </a:pPr>
            <a:r>
              <a:rPr lang="en-US" dirty="0"/>
              <a:t>It reduces </a:t>
            </a:r>
            <a:r>
              <a:rPr lang="en-US" b="1" dirty="0"/>
              <a:t>manual work, errors, and the need to visit courier centers</a:t>
            </a:r>
            <a:r>
              <a:rPr lang="en-US" dirty="0"/>
              <a:t>.</a:t>
            </a:r>
          </a:p>
          <a:p>
            <a:pPr marL="285750" lvl="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Future Scope</a:t>
            </a:r>
          </a:p>
          <a:p>
            <a:pPr marL="285750" lvl="0" indent="-285750">
              <a:buFont typeface="Arial" panose="020B0604020202020204" pitchFamily="34" charset="0"/>
              <a:buChar char="•"/>
            </a:pPr>
            <a:r>
              <a:rPr lang="en-US" dirty="0"/>
              <a:t>Add </a:t>
            </a:r>
            <a:r>
              <a:rPr lang="en-US" b="1" dirty="0"/>
              <a:t>GPS-based real-time tracking</a:t>
            </a:r>
            <a:r>
              <a:rPr lang="en-US" dirty="0"/>
              <a:t> and map integration.</a:t>
            </a:r>
          </a:p>
          <a:p>
            <a:pPr marL="285750" lvl="0" indent="-285750">
              <a:buFont typeface="Arial" panose="020B0604020202020204" pitchFamily="34" charset="0"/>
              <a:buChar char="•"/>
            </a:pPr>
            <a:r>
              <a:rPr lang="en-US" dirty="0"/>
              <a:t>Add </a:t>
            </a:r>
            <a:r>
              <a:rPr lang="en-US" b="1" dirty="0"/>
              <a:t>online payment, QR/barcode scanning, and automated notifications</a:t>
            </a:r>
            <a:r>
              <a:rPr lang="en-US" dirty="0"/>
              <a:t>.</a:t>
            </a:r>
          </a:p>
          <a:p>
            <a:endParaRPr lang="en-US" dirty="0"/>
          </a:p>
        </p:txBody>
      </p:sp>
    </p:spTree>
    <p:extLst>
      <p:ext uri="{BB962C8B-B14F-4D97-AF65-F5344CB8AC3E}">
        <p14:creationId xmlns:p14="http://schemas.microsoft.com/office/powerpoint/2010/main" val="174900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8257</TotalTime>
  <Words>1377</Words>
  <Application>Microsoft Office PowerPoint</Application>
  <PresentationFormat>Widescreen</PresentationFormat>
  <Paragraphs>173</Paragraphs>
  <Slides>14</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Calibri Light</vt:lpstr>
      <vt:lpstr>Office Theme</vt:lpstr>
      <vt:lpstr>Custom Design</vt:lpstr>
      <vt:lpstr> 1st  REVIEW  Distributed Video Anomaly Detection in Large-Scale Surveillance Systems Using HDFS and Cluster-Visualized Federated CNN–LSTM Models </vt:lpstr>
      <vt:lpstr>GROUP NUMBER:1</vt:lpstr>
      <vt:lpstr>ABSTRACT</vt:lpstr>
      <vt:lpstr>INTRDOUCTION</vt:lpstr>
      <vt:lpstr>EXISTING SYSTEM</vt:lpstr>
      <vt:lpstr>PROBLEM</vt:lpstr>
      <vt:lpstr>SOLUTION(Contribution)</vt:lpstr>
      <vt:lpstr>Objectives </vt:lpstr>
      <vt:lpstr>Modules</vt:lpstr>
      <vt:lpstr>PowerPoint Presentation</vt:lpstr>
      <vt:lpstr>PowerPoint Presentation</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Kommalapati Rishitha Chowdary</cp:lastModifiedBy>
  <cp:revision>96</cp:revision>
  <dcterms:created xsi:type="dcterms:W3CDTF">2022-05-20T10:20:31Z</dcterms:created>
  <dcterms:modified xsi:type="dcterms:W3CDTF">2026-08-15T10:41:06Z</dcterms:modified>
</cp:coreProperties>
</file>